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0678320" y="6276240"/>
            <a:ext cx="637920" cy="54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836B3913-7CEC-4F59-89AA-19EA96550233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rPr>
              <a:t>14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29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969200" y="1086840"/>
            <a:ext cx="8253360" cy="2330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10678320" y="6276240"/>
            <a:ext cx="637920" cy="54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A8CFE7BF-7626-40D1-9B05-B3829B160DE5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rPr>
              <a:t>14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29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2347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2347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5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10678320" y="6276240"/>
            <a:ext cx="637920" cy="54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6793B318-78B1-44C0-A1EE-1D1D2065DCC6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rPr>
              <a:t>14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29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10678320" y="6276240"/>
            <a:ext cx="637920" cy="54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578DCF64-CC09-420B-B94E-D4C64F7A0B5C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rPr>
              <a:t>14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5"/>
          </p:nvPr>
        </p:nvSpPr>
        <p:spPr>
          <a:xfrm>
            <a:off x="10678320" y="6276240"/>
            <a:ext cx="637920" cy="54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0A284164-FE35-4032-B457-09C02BB1ECB4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Courier New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/>
          </p:nvPr>
        </p:nvSpPr>
        <p:spPr>
          <a:xfrm>
            <a:off x="38160" y="533520"/>
            <a:ext cx="12115440" cy="2247480"/>
          </a:xfrm>
          <a:prstGeom prst="rect">
            <a:avLst/>
          </a:prstGeom>
          <a:noFill/>
          <a:ln w="0">
            <a:noFill/>
          </a:ln>
        </p:spPr>
        <p:txBody>
          <a:bodyPr lIns="0" tIns="105480" rIns="0" bIns="0" anchor="t">
            <a:spAutoFit/>
          </a:bodyPr>
          <a:p>
            <a:pPr marL="13320" indent="-720" algn="ctr">
              <a:lnSpc>
                <a:spcPts val="5839"/>
              </a:lnSpc>
              <a:spcBef>
                <a:spcPts val="831"/>
              </a:spcBef>
              <a:buNone/>
              <a:tabLst>
                <a:tab pos="0" algn="l"/>
              </a:tabLst>
            </a:pPr>
            <a:r>
              <a:rPr lang="ru-RU" sz="5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Разработка мобильного приложения для отслеживания расписания на платформе Android</a:t>
            </a:r>
            <a:endParaRPr lang="ru-RU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ldNum" idx="16"/>
          </p:nvPr>
        </p:nvSpPr>
        <p:spPr>
          <a:xfrm>
            <a:off x="11274840" y="616968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46A10096-7696-4BDF-A3C6-425FD68B47D6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Постановка</a:t>
            </a:r>
            <a:r>
              <a:rPr lang="ru-RU" sz="4400" b="1" u="none" spc="-286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ru-RU" sz="4400" b="1" u="none" spc="-11" strike="noStrike">
                <a:solidFill>
                  <a:schemeClr val="dk1"/>
                </a:solidFill>
                <a:effectLst/>
                <a:uFillTx/>
                <a:latin typeface="Arial"/>
              </a:rPr>
              <a:t>задачи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object 3"/>
          <p:cNvSpPr/>
          <p:nvPr/>
        </p:nvSpPr>
        <p:spPr>
          <a:xfrm>
            <a:off x="1145880" y="1487880"/>
            <a:ext cx="10969560" cy="7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1240920" algn="l"/>
              </a:tabLst>
            </a:pPr>
            <a:r>
              <a:rPr lang="ru-RU" sz="24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Цель:</a:t>
            </a:r>
            <a:r>
              <a:rPr lang="ru-RU" sz="2400" b="1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ru-RU" sz="24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р</a:t>
            </a: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азработка мобильного приложения для отслеживания расписания в вузе на платформе Android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13"/>
          <p:cNvSpPr/>
          <p:nvPr/>
        </p:nvSpPr>
        <p:spPr>
          <a:xfrm>
            <a:off x="917280" y="2666880"/>
            <a:ext cx="10740960" cy="37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Задачи: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Проектирование и реализация приложения, включая создание интерфейса, использование баз данных для хранения расписания и механизмов синхронизации для обновления данных в реальном времени. 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OpenSymbol"/>
              <a:buAutoNum type="arabicPeriod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Реализация выбранного API, интеграция его в приложение и тестирование работы, включая написание кода для взаимодействия с API, обработку данных и обеспечение корректной работы всех функций приложения.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1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Средства</a:t>
            </a:r>
            <a:r>
              <a:rPr lang="ru-RU" sz="4400" b="1" u="none" spc="-235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1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реализации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7"/>
          </p:nvPr>
        </p:nvSpPr>
        <p:spPr>
          <a:xfrm>
            <a:off x="11274840" y="617472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62B75376-194D-40AB-91CC-5A8351505CD8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TextBox 6"/>
          <p:cNvSpPr/>
          <p:nvPr/>
        </p:nvSpPr>
        <p:spPr>
          <a:xfrm>
            <a:off x="1371600" y="1981080"/>
            <a:ext cx="4579920" cy="37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Kotlin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Android studio 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Gradle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Git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Jetpack Compose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Postman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Этапы реализации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ldNum" idx="18"/>
          </p:nvPr>
        </p:nvSpPr>
        <p:spPr>
          <a:xfrm>
            <a:off x="11274840" y="616968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91B88349-137A-4CBC-9C22-779F0C209531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Рисунок 5"/>
          <p:cNvPicPr/>
          <p:nvPr/>
        </p:nvPicPr>
        <p:blipFill>
          <a:blip r:embed="rId1"/>
          <a:stretch/>
        </p:blipFill>
        <p:spPr>
          <a:xfrm>
            <a:off x="952920" y="1442520"/>
            <a:ext cx="9810720" cy="495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Архитектура</a:t>
            </a:r>
            <a:r>
              <a:rPr lang="ru-RU" sz="4400" b="0" u="none" spc="-315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приложения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7" name="object 3"/>
          <p:cNvPicPr/>
          <p:nvPr/>
        </p:nvPicPr>
        <p:blipFill>
          <a:blip r:embed="rId1"/>
          <a:stretch/>
        </p:blipFill>
        <p:spPr>
          <a:xfrm>
            <a:off x="1822680" y="1691640"/>
            <a:ext cx="8546400" cy="155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object 4"/>
          <p:cNvPicPr/>
          <p:nvPr/>
        </p:nvPicPr>
        <p:blipFill>
          <a:blip r:embed="rId2"/>
          <a:stretch/>
        </p:blipFill>
        <p:spPr>
          <a:xfrm>
            <a:off x="2484000" y="3377160"/>
            <a:ext cx="7223400" cy="311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2"/>
          <p:cNvSpPr>
            <a:spLocks noGrp="1"/>
          </p:cNvSpPr>
          <p:nvPr>
            <p:ph type="sldNum" idx="19"/>
          </p:nvPr>
        </p:nvSpPr>
        <p:spPr>
          <a:xfrm>
            <a:off x="11274840" y="616968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9E23DE33-AB1B-46B4-9C6B-FF49487AEBA3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4"/>
          <p:cNvPicPr/>
          <p:nvPr/>
        </p:nvPicPr>
        <p:blipFill>
          <a:blip r:embed="rId1"/>
          <a:stretch/>
        </p:blipFill>
        <p:spPr>
          <a:xfrm>
            <a:off x="2819520" y="1594800"/>
            <a:ext cx="7009920" cy="508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sldNum" idx="20"/>
          </p:nvPr>
        </p:nvSpPr>
        <p:spPr>
          <a:xfrm>
            <a:off x="11274840" y="616968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305975C1-965E-450D-8B98-88EF7E880FC7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457200" y="144000"/>
            <a:ext cx="10817280" cy="1428480"/>
          </a:xfrm>
          <a:prstGeom prst="rect">
            <a:avLst/>
          </a:prstGeom>
          <a:noFill/>
          <a:ln w="0">
            <a:noFill/>
          </a:ln>
        </p:spPr>
        <p:txBody>
          <a:bodyPr lIns="0" tIns="87480" rIns="0" bIns="0" anchor="t">
            <a:spAutoFit/>
          </a:bodyPr>
          <a:p>
            <a:pPr marL="12600" indent="0" algn="l">
              <a:lnSpc>
                <a:spcPts val="4751"/>
              </a:lnSpc>
              <a:spcBef>
                <a:spcPts val="689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Диаграмма</a:t>
            </a:r>
            <a:r>
              <a:rPr lang="ru-RU" sz="4400" b="0" u="none" spc="-261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вариантов использования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 «Главный экран»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Рисунок 5"/>
          <p:cNvPicPr/>
          <p:nvPr/>
        </p:nvPicPr>
        <p:blipFill>
          <a:blip r:embed="rId1"/>
          <a:stretch/>
        </p:blipFill>
        <p:spPr>
          <a:xfrm>
            <a:off x="1832760" y="1122840"/>
            <a:ext cx="8526240" cy="549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sldNum" idx="21"/>
          </p:nvPr>
        </p:nvSpPr>
        <p:spPr>
          <a:xfrm>
            <a:off x="11274840" y="616968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fld id="{92AA79F7-D395-4548-8F45-9B5D3069D80B}" type="slidenum"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380880" y="144000"/>
            <a:ext cx="10893240" cy="1428480"/>
          </a:xfrm>
          <a:prstGeom prst="rect">
            <a:avLst/>
          </a:prstGeom>
          <a:noFill/>
          <a:ln w="0">
            <a:noFill/>
          </a:ln>
        </p:spPr>
        <p:txBody>
          <a:bodyPr lIns="0" tIns="87480" rIns="0" bIns="0" anchor="t">
            <a:spAutoFit/>
          </a:bodyPr>
          <a:p>
            <a:pPr marL="12600" indent="0" algn="l">
              <a:lnSpc>
                <a:spcPts val="4751"/>
              </a:lnSpc>
              <a:spcBef>
                <a:spcPts val="689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Диаграмма</a:t>
            </a:r>
            <a:r>
              <a:rPr lang="ru-RU" sz="4400" b="0" u="none" spc="-261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вариантов использования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 «Экран настроек»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Рисунок 4"/>
          <p:cNvPicPr/>
          <p:nvPr/>
        </p:nvPicPr>
        <p:blipFill>
          <a:blip r:embed="rId1"/>
          <a:stretch/>
        </p:blipFill>
        <p:spPr>
          <a:xfrm>
            <a:off x="838080" y="1321920"/>
            <a:ext cx="8534160" cy="538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Схема</a:t>
            </a:r>
            <a:r>
              <a:rPr lang="ru-RU" sz="4400" b="0" u="none" spc="-156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сущностей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 базы данных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2"/>
          </p:nvPr>
        </p:nvSpPr>
        <p:spPr>
          <a:xfrm>
            <a:off x="11274840" y="617220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11760" indent="0" algn="l">
              <a:lnSpc>
                <a:spcPts val="3821"/>
              </a:lnSpc>
              <a:buNone/>
              <a:def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11760" indent="0" algn="l">
              <a:lnSpc>
                <a:spcPts val="3821"/>
              </a:lnSpc>
              <a:buNone/>
            </a:pPr>
            <a:r>
              <a:rPr lang="ru-RU" sz="3600" b="0" u="none" spc="-51" strike="noStrike">
                <a:solidFill>
                  <a:schemeClr val="dk1"/>
                </a:solidFill>
                <a:effectLst/>
                <a:uFillTx/>
                <a:latin typeface="Arial"/>
              </a:rPr>
              <a:t>8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24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Диаграмма</a:t>
            </a:r>
            <a:r>
              <a:rPr lang="ru-RU" sz="4400" b="0" u="none" spc="-261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классов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 базы данных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0" name="Рисунок 5"/>
          <p:cNvPicPr/>
          <p:nvPr/>
        </p:nvPicPr>
        <p:blipFill>
          <a:blip r:embed="rId1"/>
          <a:stretch/>
        </p:blipFill>
        <p:spPr>
          <a:xfrm>
            <a:off x="2362320" y="1905480"/>
            <a:ext cx="8647920" cy="445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2"/>
          <p:cNvSpPr/>
          <p:nvPr/>
        </p:nvSpPr>
        <p:spPr>
          <a:xfrm>
            <a:off x="11582280" y="6095880"/>
            <a:ext cx="4406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4"/>
          <p:cNvPicPr/>
          <p:nvPr/>
        </p:nvPicPr>
        <p:blipFill>
          <a:blip r:embed="rId1"/>
          <a:stretch/>
        </p:blipFill>
        <p:spPr>
          <a:xfrm>
            <a:off x="2666880" y="1081440"/>
            <a:ext cx="9524520" cy="543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8600" y="2124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3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Диаграмма</a:t>
            </a:r>
            <a:r>
              <a:rPr lang="ru-RU" sz="4300" b="0" u="none" spc="-261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3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классов</a:t>
            </a:r>
            <a:r>
              <a:rPr lang="ru-RU" sz="43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 сетевых репозиториев</a:t>
            </a:r>
            <a:endParaRPr lang="ru-RU" sz="43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23"/>
          </p:nvPr>
        </p:nvSpPr>
        <p:spPr>
          <a:xfrm>
            <a:off x="11125080" y="6269040"/>
            <a:ext cx="8665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3821"/>
              </a:lnSpc>
              <a:buNone/>
              <a:defRPr lang="ru-RU" sz="3600" b="0" u="none" spc="-26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8160" indent="0" algn="l">
              <a:lnSpc>
                <a:spcPts val="3821"/>
              </a:lnSpc>
              <a:buNone/>
            </a:pPr>
            <a:fld id="{100B20D2-3DD5-44EF-9845-6B2A62F3DA3A}" type="slidenum">
              <a:rPr lang="ru-RU" sz="36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&lt;номер&gt;</a:t>
            </a:fld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Пользовательский</a:t>
            </a:r>
            <a:r>
              <a:rPr lang="ru-RU" sz="4400" b="0" u="none" spc="-476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интерфейс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56" name="Рисунок 7"/>
          <p:cNvPicPr/>
          <p:nvPr/>
        </p:nvPicPr>
        <p:blipFill>
          <a:blip r:embed="rId1"/>
          <a:stretch/>
        </p:blipFill>
        <p:spPr>
          <a:xfrm>
            <a:off x="2209680" y="1442520"/>
            <a:ext cx="2357640" cy="510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Рисунок 9"/>
          <p:cNvPicPr/>
          <p:nvPr/>
        </p:nvPicPr>
        <p:blipFill>
          <a:blip r:embed="rId2"/>
          <a:stretch/>
        </p:blipFill>
        <p:spPr>
          <a:xfrm>
            <a:off x="6219000" y="1479960"/>
            <a:ext cx="2357640" cy="510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Box 2"/>
          <p:cNvSpPr/>
          <p:nvPr/>
        </p:nvSpPr>
        <p:spPr>
          <a:xfrm>
            <a:off x="11274840" y="6211800"/>
            <a:ext cx="6973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Num" idx="24"/>
          </p:nvPr>
        </p:nvSpPr>
        <p:spPr>
          <a:xfrm>
            <a:off x="11430000" y="6248520"/>
            <a:ext cx="63792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38160" indent="0" algn="l">
              <a:lnSpc>
                <a:spcPts val="3821"/>
              </a:lnSpc>
              <a:buNone/>
              <a:defRPr lang="ru-RU" sz="3600" b="0" u="none" spc="-26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8160" indent="0" algn="l">
              <a:lnSpc>
                <a:spcPts val="3821"/>
              </a:lnSpc>
              <a:buNone/>
            </a:pPr>
            <a:r>
              <a:rPr lang="ru-RU" sz="3600" b="0" u="none" spc="-26" strike="noStrike">
                <a:solidFill>
                  <a:schemeClr val="dk1"/>
                </a:solidFill>
                <a:effectLst/>
                <a:uFillTx/>
                <a:latin typeface="Arial"/>
              </a:rPr>
              <a:t>12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Дальнейшее</a:t>
            </a:r>
            <a:r>
              <a:rPr lang="ru-RU" sz="4400" b="0" u="none" spc="-286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развитие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1" name="object 3"/>
          <p:cNvSpPr/>
          <p:nvPr/>
        </p:nvSpPr>
        <p:spPr>
          <a:xfrm>
            <a:off x="917280" y="1783440"/>
            <a:ext cx="9835920" cy="24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5800" rIns="0" bIns="0" anchor="t">
            <a:spAutoFit/>
          </a:bodyPr>
          <a:p>
            <a:pPr marL="240120" indent="-22716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Персонализированное отображение занятий, например, не списком, а в виде таблицы.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439"/>
              </a:spcBef>
              <a:tabLst>
                <a:tab pos="241200" algn="l"/>
              </a:tabLst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0120" indent="-22716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 MT"/>
              <a:buChar char="•"/>
              <a:tabLst>
                <a:tab pos="241200" algn="l"/>
              </a:tabLst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Система аккаунтов для сохранения настроек на сервере, что позволит синхронизировать их между устройствами одного пользователя.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917280" y="144000"/>
            <a:ext cx="10357200" cy="1806840"/>
          </a:xfrm>
          <a:prstGeom prst="rect">
            <a:avLst/>
          </a:prstGeom>
          <a:noFill/>
          <a:ln w="0">
            <a:noFill/>
          </a:ln>
        </p:spPr>
        <p:txBody>
          <a:bodyPr lIns="0" tIns="46584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6"/>
              </a:spcBef>
              <a:buNone/>
            </a:pP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Заключение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object 3"/>
          <p:cNvSpPr/>
          <p:nvPr/>
        </p:nvSpPr>
        <p:spPr>
          <a:xfrm>
            <a:off x="917280" y="1442520"/>
            <a:ext cx="10242360" cy="395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5800" rIns="0" bIns="0" anchor="t">
            <a:spAutoFit/>
          </a:bodyPr>
          <a:p>
            <a:pPr marL="469800" indent="-45720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Мобильное приложение для просмотра расписания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90000"/>
              </a:lnSpc>
              <a:spcBef>
                <a:spcPts val="439"/>
              </a:spcBef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90000"/>
              </a:lnSpc>
              <a:spcBef>
                <a:spcPts val="439"/>
              </a:spcBef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Дополнительная функциональность: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Добавление заметок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Изменение цвета интерфейса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Возможность сообщать об ошибках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69800" indent="-457200">
              <a:lnSpc>
                <a:spcPct val="9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Возможность просматривать код 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90000"/>
              </a:lnSpc>
              <a:spcBef>
                <a:spcPts val="439"/>
              </a:spcBef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90000"/>
              </a:lnSpc>
              <a:spcBef>
                <a:spcPts val="439"/>
              </a:spcBef>
            </a:pP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318400" y="2740320"/>
            <a:ext cx="7554960" cy="1352520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91"/>
              </a:spcBef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Спасибо</a:t>
            </a:r>
            <a:r>
              <a:rPr lang="ru-RU" sz="4400" b="0" u="none" spc="-119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за</a:t>
            </a:r>
            <a:r>
              <a:rPr lang="ru-RU" sz="4400" b="0" u="none" spc="-96" strike="noStrike">
                <a:solidFill>
                  <a:schemeClr val="dk1"/>
                </a:solidFill>
                <a:effectLst/>
                <a:uFillTx/>
                <a:latin typeface="Arial Black"/>
              </a:rPr>
              <a:t> </a:t>
            </a:r>
            <a:r>
              <a:rPr lang="ru-RU" sz="4400" b="0" u="none" spc="-11" strike="noStrike">
                <a:solidFill>
                  <a:schemeClr val="dk1"/>
                </a:solidFill>
                <a:effectLst/>
                <a:uFillTx/>
                <a:latin typeface="Arial Black"/>
              </a:rPr>
              <a:t>внимание!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Application>LibreOffice/26.2.3.2$Linux_X86_64 LibreOffice_project/620$Build-2</Application>
  <AppVersion>15.0000</AppVersion>
  <Words>219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2025-05-24T15:10:40Z</dcterms:created>
  <dc:creator/>
  <dc:description/>
  <dc:language>ru-RU</dc:language>
  <cp:lastModifiedBy/>
  <dcterms:modified xsi:type="dcterms:W3CDTF">2026-06-22T12:32:56Z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2025-05-24T00:00:00Z</vt:filetime>
  </property>
  <property fmtid="{D5CDD505-2E9C-101B-9397-08002B2CF9AE}" pid="5" name="PresentationFormat">
    <vt:lpwstr>Широкоэкранный</vt:lpwstr>
  </property>
  <property fmtid="{D5CDD505-2E9C-101B-9397-08002B2CF9AE}" pid="6" name="Producer">
    <vt:lpwstr>www.ilovepdf.com</vt:lpwstr>
  </property>
  <property fmtid="{D5CDD505-2E9C-101B-9397-08002B2CF9AE}" pid="7" name="Slides">
    <vt:i4>14</vt:i4>
  </property>
</Properties>
</file>